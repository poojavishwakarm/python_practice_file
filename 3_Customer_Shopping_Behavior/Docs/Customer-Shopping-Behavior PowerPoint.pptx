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omfortaa"/>
      <p:regular r:id="rId17"/>
    </p:embeddedFont>
    <p:embeddedFont>
      <p:font typeface="Comfortaa"/>
      <p:regular r:id="rId18"/>
    </p:embeddedFont>
    <p:embeddedFont>
      <p:font typeface="Raleway Medium"/>
      <p:regular r:id="rId19"/>
    </p:embeddedFont>
    <p:embeddedFont>
      <p:font typeface="Raleway Medium"/>
      <p:regular r:id="rId20"/>
    </p:embeddedFont>
    <p:embeddedFont>
      <p:font typeface="Raleway Medium"/>
      <p:regular r:id="rId21"/>
    </p:embeddedFont>
    <p:embeddedFont>
      <p:font typeface="Raleway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8488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Shopping Behavior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5906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Uncovering insights from 3,900 purchases to guide strategic business decisions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18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7126" y="3748326"/>
            <a:ext cx="5371743" cy="648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at a Glance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817126" y="4863703"/>
            <a:ext cx="3030141" cy="77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50"/>
              </a:lnSpc>
              <a:buNone/>
            </a:pPr>
            <a:r>
              <a:rPr lang="en-US" sz="6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3,900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1035010" y="5925860"/>
            <a:ext cx="259425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Total Purchases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7126" y="6390084"/>
            <a:ext cx="3030141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Transactions analyzed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39089" y="4863703"/>
            <a:ext cx="3030141" cy="77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50"/>
              </a:lnSpc>
              <a:buNone/>
            </a:pPr>
            <a:r>
              <a:rPr lang="en-US" sz="6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18</a:t>
            </a:r>
            <a:endParaRPr lang="en-US" sz="6050" dirty="0"/>
          </a:p>
        </p:txBody>
      </p:sp>
      <p:sp>
        <p:nvSpPr>
          <p:cNvPr id="8" name="Text 5"/>
          <p:cNvSpPr/>
          <p:nvPr/>
        </p:nvSpPr>
        <p:spPr>
          <a:xfrm>
            <a:off x="4356973" y="5925860"/>
            <a:ext cx="259425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Points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39089" y="6390084"/>
            <a:ext cx="3030141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Features per transaction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61052" y="4863703"/>
            <a:ext cx="3030141" cy="77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50"/>
              </a:lnSpc>
              <a:buNone/>
            </a:pPr>
            <a:r>
              <a:rPr lang="en-US" sz="6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$59.76</a:t>
            </a:r>
            <a:endParaRPr lang="en-US" sz="6050" dirty="0"/>
          </a:p>
        </p:txBody>
      </p:sp>
      <p:sp>
        <p:nvSpPr>
          <p:cNvPr id="11" name="Text 8"/>
          <p:cNvSpPr/>
          <p:nvPr/>
        </p:nvSpPr>
        <p:spPr>
          <a:xfrm>
            <a:off x="7678936" y="5925860"/>
            <a:ext cx="259425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Avg Purchase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461052" y="6390084"/>
            <a:ext cx="3030141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Per transaction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783014" y="4863703"/>
            <a:ext cx="3030260" cy="77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050"/>
              </a:lnSpc>
              <a:buNone/>
            </a:pPr>
            <a:r>
              <a:rPr lang="en-US" sz="6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3.75</a:t>
            </a:r>
            <a:endParaRPr lang="en-US" sz="6050" dirty="0"/>
          </a:p>
        </p:txBody>
      </p:sp>
      <p:sp>
        <p:nvSpPr>
          <p:cNvPr id="14" name="Text 11"/>
          <p:cNvSpPr/>
          <p:nvPr/>
        </p:nvSpPr>
        <p:spPr>
          <a:xfrm>
            <a:off x="11001018" y="5925860"/>
            <a:ext cx="2594253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Avg Rating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783014" y="6390084"/>
            <a:ext cx="3030260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 satisfaction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7126" y="7026235"/>
            <a:ext cx="12996148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Comprehensive dataset covering demographics, purchase details, and shopping behavior across multiple categories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039" y="575786"/>
            <a:ext cx="6353889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Preparation Journey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218039" y="1469946"/>
            <a:ext cx="20895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8039" y="1802249"/>
            <a:ext cx="7680722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6218039" y="1952387"/>
            <a:ext cx="3379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Loading &amp; Exploration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18039" y="2368034"/>
            <a:ext cx="7680722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Imported dataset, checked structure with pandas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8039" y="3068122"/>
            <a:ext cx="20895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8039" y="3400425"/>
            <a:ext cx="7680722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6218039" y="3550563"/>
            <a:ext cx="27952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Missing Data Handling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18039" y="3966210"/>
            <a:ext cx="7680722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Imputed 37 missing review ratings using category medians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8039" y="4666297"/>
            <a:ext cx="20895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8039" y="4998601"/>
            <a:ext cx="7680722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Text 11"/>
          <p:cNvSpPr/>
          <p:nvPr/>
        </p:nvSpPr>
        <p:spPr>
          <a:xfrm>
            <a:off x="6218039" y="5148739"/>
            <a:ext cx="24963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18039" y="5564386"/>
            <a:ext cx="7680722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Created age groups and purchase frequency metrics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18039" y="6264473"/>
            <a:ext cx="20895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8039" y="6596777"/>
            <a:ext cx="7680722" cy="2286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8" name="Text 15"/>
          <p:cNvSpPr/>
          <p:nvPr/>
        </p:nvSpPr>
        <p:spPr>
          <a:xfrm>
            <a:off x="6218039" y="6746915"/>
            <a:ext cx="2603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18039" y="7162562"/>
            <a:ext cx="7680722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Loaded cleaned data into PostgreSQL for analysis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446" y="411718"/>
            <a:ext cx="7215068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Insights: Gender &amp; Subscriptions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2446" y="1199317"/>
            <a:ext cx="1659850" cy="207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by Gender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46" y="1574483"/>
            <a:ext cx="6610707" cy="35221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98257" y="5127069"/>
            <a:ext cx="149185" cy="149185"/>
          </a:xfrm>
          <a:prstGeom prst="roundRect">
            <a:avLst>
              <a:gd name="adj" fmla="val 12259"/>
            </a:avLst>
          </a:prstGeom>
          <a:solidFill>
            <a:srgbClr val="4D4000"/>
          </a:solidFill>
          <a:ln/>
        </p:spPr>
      </p:sp>
      <p:sp>
        <p:nvSpPr>
          <p:cNvPr id="6" name="Text 3"/>
          <p:cNvSpPr/>
          <p:nvPr/>
        </p:nvSpPr>
        <p:spPr>
          <a:xfrm>
            <a:off x="3408402" y="5127069"/>
            <a:ext cx="343138" cy="149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Male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03940" y="5127069"/>
            <a:ext cx="149185" cy="149185"/>
          </a:xfrm>
          <a:prstGeom prst="roundRect">
            <a:avLst>
              <a:gd name="adj" fmla="val 12259"/>
            </a:avLst>
          </a:prstGeom>
          <a:solidFill>
            <a:srgbClr val="FFD81A"/>
          </a:solidFill>
          <a:ln/>
        </p:spPr>
      </p:sp>
      <p:sp>
        <p:nvSpPr>
          <p:cNvPr id="8" name="Text 5"/>
          <p:cNvSpPr/>
          <p:nvPr/>
        </p:nvSpPr>
        <p:spPr>
          <a:xfrm>
            <a:off x="4114086" y="5127069"/>
            <a:ext cx="521732" cy="149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Female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2446" y="5444252"/>
            <a:ext cx="661070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Male customers generate 68% of total revenue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04867" y="1199317"/>
            <a:ext cx="1732121" cy="207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Subscription Status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891951" y="2544842"/>
            <a:ext cx="1836182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27%</a:t>
            </a:r>
            <a:endParaRPr lang="en-US" sz="2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497" y="1611749"/>
            <a:ext cx="2239328" cy="2239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4867" y="4037528"/>
            <a:ext cx="661070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Subscribers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891951" y="5545217"/>
            <a:ext cx="1836182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73%</a:t>
            </a:r>
            <a:endParaRPr lang="en-US" sz="2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497" y="4612124"/>
            <a:ext cx="2239328" cy="2239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04867" y="7037903"/>
            <a:ext cx="661070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Non-subscribers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504867" y="7444621"/>
            <a:ext cx="661070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Avg spend: Subscribers $59.49 vs Non-subscribers $59.87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50752"/>
            <a:ext cx="711267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Performing Products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27272B"/>
          </a:solidFill>
          <a:ln/>
        </p:spPr>
      </p:sp>
      <p:sp>
        <p:nvSpPr>
          <p:cNvPr id="4" name="Shape 2"/>
          <p:cNvSpPr/>
          <p:nvPr/>
        </p:nvSpPr>
        <p:spPr>
          <a:xfrm>
            <a:off x="864037" y="2770108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5" name="Shape 3"/>
          <p:cNvSpPr/>
          <p:nvPr/>
        </p:nvSpPr>
        <p:spPr>
          <a:xfrm>
            <a:off x="2561868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6" name="Text 4"/>
          <p:cNvSpPr/>
          <p:nvPr/>
        </p:nvSpPr>
        <p:spPr>
          <a:xfrm>
            <a:off x="2784038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1333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Gloves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141333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Highest rated: 3.86 stars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7084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27272B"/>
          </a:solidFill>
          <a:ln/>
        </p:spPr>
      </p:sp>
      <p:sp>
        <p:nvSpPr>
          <p:cNvPr id="10" name="Shape 8"/>
          <p:cNvSpPr/>
          <p:nvPr/>
        </p:nvSpPr>
        <p:spPr>
          <a:xfrm>
            <a:off x="5247084" y="2770108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1" name="Shape 9"/>
          <p:cNvSpPr/>
          <p:nvPr/>
        </p:nvSpPr>
        <p:spPr>
          <a:xfrm>
            <a:off x="6944916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12" name="Text 10"/>
          <p:cNvSpPr/>
          <p:nvPr/>
        </p:nvSpPr>
        <p:spPr>
          <a:xfrm>
            <a:off x="7167086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24381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Sandals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524381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Second best: 3.84 stars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272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0132" y="2770108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27963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0134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907429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Boots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907429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Strong performer: 3.82 stars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64037" y="5198269"/>
            <a:ext cx="6327696" cy="1780580"/>
          </a:xfrm>
          <a:prstGeom prst="roundRect">
            <a:avLst>
              <a:gd name="adj" fmla="val 8217"/>
            </a:avLst>
          </a:prstGeom>
          <a:solidFill>
            <a:srgbClr val="272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864037" y="5167789"/>
            <a:ext cx="6327696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482798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24" name="Text 22"/>
          <p:cNvSpPr/>
          <p:nvPr/>
        </p:nvSpPr>
        <p:spPr>
          <a:xfrm>
            <a:off x="3879771" y="5013127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141333" y="58154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Hat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141333" y="6306503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Popular choice: 3.80 stars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438549" y="5198269"/>
            <a:ext cx="6327815" cy="1780580"/>
          </a:xfrm>
          <a:prstGeom prst="roundRect">
            <a:avLst>
              <a:gd name="adj" fmla="val 8217"/>
            </a:avLst>
          </a:prstGeom>
          <a:solidFill>
            <a:srgbClr val="272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7438549" y="5167789"/>
            <a:ext cx="6327815" cy="12192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2112" y="482798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FFE14D"/>
          </a:solidFill>
          <a:ln/>
        </p:spPr>
      </p:sp>
      <p:sp>
        <p:nvSpPr>
          <p:cNvPr id="30" name="Text 28"/>
          <p:cNvSpPr/>
          <p:nvPr/>
        </p:nvSpPr>
        <p:spPr>
          <a:xfrm>
            <a:off x="10454283" y="5013127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715845" y="58154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Skirt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7715845" y="6306503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Top five: 3.78 stars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14005"/>
            <a:ext cx="6930033" cy="620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Discount Strategy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81526" y="1792486"/>
            <a:ext cx="40353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High-Spending Discount Users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81526" y="2325886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839 customers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used discounts but still spent above average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1526" y="2884170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Opportunity to optimize discount targeting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1526" y="3464719"/>
            <a:ext cx="34310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Most Discounted Products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81526" y="3998119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Hat: 50% discount rate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1526" y="4433530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Sneakers: 49.66%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81526" y="4868942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Coat: 49.07%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81526" y="5304353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Sweater: 48.17%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81526" y="5739765"/>
            <a:ext cx="7622381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Pants: 47.37%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6358" y="1820466"/>
            <a:ext cx="4900017" cy="490001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1526" y="7222927"/>
            <a:ext cx="13067348" cy="948809"/>
          </a:xfrm>
          <a:prstGeom prst="roundRect">
            <a:avLst>
              <a:gd name="adj" fmla="val 35305"/>
            </a:avLst>
          </a:prstGeom>
          <a:solidFill>
            <a:srgbClr val="4D40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68" y="7557968"/>
            <a:ext cx="279083" cy="2232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7093" y="7501890"/>
            <a:ext cx="1211853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Balance sales boosts with margin control—review discount policy for profitability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57394"/>
            <a:ext cx="699908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Segmentation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5140" y="2236946"/>
            <a:ext cx="2128838" cy="1379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5966" y="2879646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2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00794" y="2483763"/>
            <a:ext cx="15659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New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400794" y="2974777"/>
            <a:ext cx="156591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83 customers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15652" y="3632240"/>
            <a:ext cx="8489037" cy="15240"/>
          </a:xfrm>
          <a:prstGeom prst="roundRect">
            <a:avLst>
              <a:gd name="adj" fmla="val 2430000"/>
            </a:avLst>
          </a:prstGeom>
          <a:solidFill>
            <a:srgbClr val="5F5F6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721" y="3678317"/>
            <a:ext cx="4257675" cy="1379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5966" y="4151114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2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6465213" y="3925133"/>
            <a:ext cx="16796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Returning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6465213" y="4416147"/>
            <a:ext cx="1679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701 customers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80071" y="5073610"/>
            <a:ext cx="7424618" cy="15240"/>
          </a:xfrm>
          <a:prstGeom prst="roundRect">
            <a:avLst>
              <a:gd name="adj" fmla="val 2430000"/>
            </a:avLst>
          </a:prstGeom>
          <a:solidFill>
            <a:srgbClr val="5F5F6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83" y="5119687"/>
            <a:ext cx="6386632" cy="13796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5847" y="5592485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2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7529632" y="5366504"/>
            <a:ext cx="18420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Loyal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7529632" y="5857518"/>
            <a:ext cx="18420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3,116 customers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64037" y="677703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80% of customers are loyal—focus on moving returning customers into this segment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766" y="474345"/>
            <a:ext cx="4491871" cy="479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by Age Group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766" y="1298615"/>
            <a:ext cx="13422868" cy="75167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766" y="9009459"/>
            <a:ext cx="13422868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Young adults lead revenue generation—target marketing efforts accordingly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7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0822" y="3751064"/>
            <a:ext cx="9767054" cy="683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Shipping &amp; Category Performance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0822" y="5048964"/>
            <a:ext cx="3104198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Shipping Type Impact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0822" y="5636300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Express: $60.48 avg purchase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0822" y="6115883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Standard: $58.46 avg purchase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0822" y="6730722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Express shipping users spend 3.5% more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22858" y="5048964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Categories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622858" y="5636300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Clothing: Highest revenue &amp; sales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622858" y="6115883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Accessories: Strong second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22858" y="6595467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Footwear: Consistent performer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622858" y="7075051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Outerwear: Seasonal opportunity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37009"/>
            <a:ext cx="809363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Strategic Recommendations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016562"/>
            <a:ext cx="4136231" cy="2762131"/>
          </a:xfrm>
          <a:prstGeom prst="roundRect">
            <a:avLst>
              <a:gd name="adj" fmla="val 13407"/>
            </a:avLst>
          </a:prstGeom>
          <a:solidFill>
            <a:srgbClr val="4646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0853" y="2263378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450" y="2466975"/>
            <a:ext cx="333256" cy="333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853" y="3250763"/>
            <a:ext cx="29135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10853" y="3741777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Promote exclusive benefits to convert 73% non-subscribers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7084" y="2016562"/>
            <a:ext cx="4136231" cy="2762131"/>
          </a:xfrm>
          <a:prstGeom prst="roundRect">
            <a:avLst>
              <a:gd name="adj" fmla="val 13407"/>
            </a:avLst>
          </a:pr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5493901" y="2263378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7498" y="2466975"/>
            <a:ext cx="333256" cy="3332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3901" y="32507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Loyalty Programs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5493901" y="3741777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Reward repeat buyers to grow loyal segment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2016562"/>
            <a:ext cx="4136231" cy="2762131"/>
          </a:xfrm>
          <a:prstGeom prst="roundRect">
            <a:avLst>
              <a:gd name="adj" fmla="val 13407"/>
            </a:avLst>
          </a:prstGeom>
          <a:solidFill>
            <a:srgbClr val="46464A"/>
          </a:solidFill>
          <a:ln/>
        </p:spPr>
      </p:sp>
      <p:sp>
        <p:nvSpPr>
          <p:cNvPr id="14" name="Shape 10"/>
          <p:cNvSpPr/>
          <p:nvPr/>
        </p:nvSpPr>
        <p:spPr>
          <a:xfrm>
            <a:off x="9876949" y="2263378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0546" y="2466975"/>
            <a:ext cx="333256" cy="3332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6949" y="3250763"/>
            <a:ext cx="28016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Optimize Discounts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76949" y="3741777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Balance promotions with margin control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864037" y="5025509"/>
            <a:ext cx="6327696" cy="2367082"/>
          </a:xfrm>
          <a:prstGeom prst="roundRect">
            <a:avLst>
              <a:gd name="adj" fmla="val 15645"/>
            </a:avLst>
          </a:prstGeom>
          <a:solidFill>
            <a:srgbClr val="46464A"/>
          </a:solidFill>
          <a:ln/>
        </p:spPr>
      </p:sp>
      <p:sp>
        <p:nvSpPr>
          <p:cNvPr id="19" name="Shape 14"/>
          <p:cNvSpPr/>
          <p:nvPr/>
        </p:nvSpPr>
        <p:spPr>
          <a:xfrm>
            <a:off x="1110853" y="5272326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4450" y="5475923"/>
            <a:ext cx="333256" cy="3332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0853" y="6259711"/>
            <a:ext cx="330315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Highlight Top Products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1110853" y="6750725"/>
            <a:ext cx="583406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Feature high-rated items in campaigns</a:t>
            </a:r>
            <a:endParaRPr lang="en-US" sz="1900" dirty="0"/>
          </a:p>
        </p:txBody>
      </p:sp>
      <p:sp>
        <p:nvSpPr>
          <p:cNvPr id="23" name="Shape 17"/>
          <p:cNvSpPr/>
          <p:nvPr/>
        </p:nvSpPr>
        <p:spPr>
          <a:xfrm>
            <a:off x="7438549" y="5025509"/>
            <a:ext cx="6327815" cy="2367082"/>
          </a:xfrm>
          <a:prstGeom prst="roundRect">
            <a:avLst>
              <a:gd name="adj" fmla="val 15645"/>
            </a:avLst>
          </a:prstGeom>
          <a:solidFill>
            <a:srgbClr val="46464A"/>
          </a:solidFill>
          <a:ln/>
        </p:spPr>
      </p:sp>
      <p:sp>
        <p:nvSpPr>
          <p:cNvPr id="24" name="Shape 18"/>
          <p:cNvSpPr/>
          <p:nvPr/>
        </p:nvSpPr>
        <p:spPr>
          <a:xfrm>
            <a:off x="7685365" y="5272326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FFE14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88962" y="5475923"/>
            <a:ext cx="333256" cy="3332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85365" y="6259711"/>
            <a:ext cx="28170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27" name="Text 20"/>
          <p:cNvSpPr/>
          <p:nvPr/>
        </p:nvSpPr>
        <p:spPr>
          <a:xfrm>
            <a:off x="7685365" y="6750725"/>
            <a:ext cx="58341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Focus on young adults and express shipping users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2025-12-23T09:35:55Z</dcterms:created>
  <dcterms:modified xsi:type="dcterms:W3CDTF">2025-12-23T09:35:55Z</dcterms:modified>
</cp:coreProperties>
</file>